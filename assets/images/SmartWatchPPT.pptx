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rygada 1918 Semi Bold" charset="0"/>
      <p:regular r:id="rId13"/>
    </p:embeddedFon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Brygada 1918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-523" y="-101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8.svg"/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2-6.svg"/><Relationship Id="rId5" Type="http://schemas.openxmlformats.org/officeDocument/2006/relationships/image" Target="../media/image-2-4.svg"/><Relationship Id="rId4" Type="http://schemas.openxmlformats.org/officeDocument/2006/relationships/image" Target="../media/image-2-2.sv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-7-6.svg"/><Relationship Id="rId12" Type="http://schemas.openxmlformats.org/officeDocument/2006/relationships/image" Target="../media/image-7-12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-7-3.svg"/><Relationship Id="rId15" Type="http://schemas.openxmlformats.org/officeDocument/2006/relationships/image" Target="../media/image-7-15.sv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-7-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Guardian Band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 advanced safety and health smartwatch designed to protect and empower women, children, and senior citizens through intelligent monitoring and real-time emergency response.</a:t>
            </a:r>
            <a:endParaRPr lang="en-US" sz="1750" dirty="0"/>
          </a:p>
        </p:txBody>
      </p:sp>
      <p:pic>
        <p:nvPicPr>
          <p:cNvPr id="1028" name="Picture 4" descr="C:\Users\bharg\Downloads\Gemini_Generated_Image_gaqywngaqywngaqy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01600" y="7814930"/>
            <a:ext cx="1828800" cy="4146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882" y="779026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Overview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66882" y="1208961"/>
            <a:ext cx="12407979" cy="68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Redefining Personal Safety &amp; Health Monitoring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766882" y="2222302"/>
            <a:ext cx="6438781" cy="2504599"/>
          </a:xfrm>
          <a:prstGeom prst="roundRect">
            <a:avLst>
              <a:gd name="adj" fmla="val 13123"/>
            </a:avLst>
          </a:prstGeom>
          <a:solidFill>
            <a:srgbClr val="626C3B"/>
          </a:solidFill>
          <a:ln w="7620">
            <a:solidFill>
              <a:srgbClr val="626C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577" y="2448997"/>
            <a:ext cx="657344" cy="657344"/>
          </a:xfrm>
          <a:prstGeom prst="roundRect">
            <a:avLst>
              <a:gd name="adj" fmla="val 13909134"/>
            </a:avLst>
          </a:prstGeom>
          <a:solidFill>
            <a:srgbClr val="626C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74313" y="2629733"/>
            <a:ext cx="295751" cy="2957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3577" y="3325416"/>
            <a:ext cx="3454360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Comprehensive Protection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993577" y="3799165"/>
            <a:ext cx="5985391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Combines personal safety features with continuous health monitoring for complete peace of mind.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424737" y="2222302"/>
            <a:ext cx="6438781" cy="2504599"/>
          </a:xfrm>
          <a:prstGeom prst="roundRect">
            <a:avLst>
              <a:gd name="adj" fmla="val 13123"/>
            </a:avLst>
          </a:prstGeom>
          <a:solidFill>
            <a:srgbClr val="626C3B"/>
          </a:solidFill>
          <a:ln w="7620">
            <a:solidFill>
              <a:srgbClr val="8379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51433" y="2448997"/>
            <a:ext cx="657344" cy="657344"/>
          </a:xfrm>
          <a:prstGeom prst="roundRect">
            <a:avLst>
              <a:gd name="adj" fmla="val 13909134"/>
            </a:avLst>
          </a:prstGeom>
          <a:solidFill>
            <a:srgbClr val="83792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832169" y="2629733"/>
            <a:ext cx="295751" cy="2957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1433" y="3325416"/>
            <a:ext cx="3142178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Medical-Grade Tracking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7651433" y="3799165"/>
            <a:ext cx="5985391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Monitors blood pressure, heart rate, oxygen levels, and other vital health parameters in real-time.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66882" y="4945975"/>
            <a:ext cx="6438781" cy="2504599"/>
          </a:xfrm>
          <a:prstGeom prst="roundRect">
            <a:avLst>
              <a:gd name="adj" fmla="val 13123"/>
            </a:avLst>
          </a:prstGeom>
          <a:solidFill>
            <a:srgbClr val="626C3B"/>
          </a:solidFill>
          <a:ln w="7620">
            <a:solidFill>
              <a:srgbClr val="E8AF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93577" y="5172670"/>
            <a:ext cx="657344" cy="657344"/>
          </a:xfrm>
          <a:prstGeom prst="roundRect">
            <a:avLst>
              <a:gd name="adj" fmla="val 13909134"/>
            </a:avLst>
          </a:prstGeom>
          <a:solidFill>
            <a:srgbClr val="E8AF3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174313" y="5353407"/>
            <a:ext cx="295751" cy="2957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3577" y="6049089"/>
            <a:ext cx="2853571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Self-Sustaining Power</a:t>
            </a:r>
            <a:endParaRPr lang="en-US" sz="2150" dirty="0"/>
          </a:p>
        </p:txBody>
      </p:sp>
      <p:sp>
        <p:nvSpPr>
          <p:cNvPr id="18" name="Text 13"/>
          <p:cNvSpPr/>
          <p:nvPr/>
        </p:nvSpPr>
        <p:spPr>
          <a:xfrm>
            <a:off x="993577" y="6522839"/>
            <a:ext cx="5985391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Harvests energy from body heat and pulse, supplemented by solar charging for extended battery life.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7424737" y="4945975"/>
            <a:ext cx="6438781" cy="2504599"/>
          </a:xfrm>
          <a:prstGeom prst="roundRect">
            <a:avLst>
              <a:gd name="adj" fmla="val 13123"/>
            </a:avLst>
          </a:prstGeom>
          <a:solidFill>
            <a:srgbClr val="626C3B"/>
          </a:solidFill>
          <a:ln w="7620">
            <a:solidFill>
              <a:srgbClr val="CC914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51433" y="5172670"/>
            <a:ext cx="657344" cy="657344"/>
          </a:xfrm>
          <a:prstGeom prst="roundRect">
            <a:avLst>
              <a:gd name="adj" fmla="val 13909134"/>
            </a:avLst>
          </a:prstGeom>
          <a:solidFill>
            <a:srgbClr val="CC914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832169" y="5353407"/>
            <a:ext cx="295751" cy="2957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51433" y="6049089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Privacy-First Design</a:t>
            </a:r>
            <a:endParaRPr lang="en-US" sz="2150" dirty="0"/>
          </a:p>
        </p:txBody>
      </p:sp>
      <p:sp>
        <p:nvSpPr>
          <p:cNvPr id="23" name="Text 17"/>
          <p:cNvSpPr/>
          <p:nvPr/>
        </p:nvSpPr>
        <p:spPr>
          <a:xfrm>
            <a:off x="7651433" y="6522839"/>
            <a:ext cx="5985391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End-to-end encryption ensures your data remains secure and under your control at all times.</a:t>
            </a:r>
            <a:endParaRPr lang="en-US" sz="1700" dirty="0"/>
          </a:p>
        </p:txBody>
      </p:sp>
      <p:pic>
        <p:nvPicPr>
          <p:cNvPr id="24" name="Picture 4" descr="C:\Users\bharg\Downloads\Gemini_Generated_Image_gaqywngaqywngaqy.pn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2801600" y="7814930"/>
            <a:ext cx="1828800" cy="4146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528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0690" y="3316367"/>
            <a:ext cx="5434132" cy="67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Our Vision &amp; Mission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760690" y="4538901"/>
            <a:ext cx="3260408" cy="40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Vision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760690" y="5163622"/>
            <a:ext cx="6289358" cy="1391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To build a self-sustaining smart wearable that seamlessly integrates safety and health technology, providing real-time protection for vulnerable populations through intelligent monitoring and instant emergency response.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87972" y="4538901"/>
            <a:ext cx="3260408" cy="40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Mission Objectives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7587972" y="5163622"/>
            <a:ext cx="6289358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Reduce emergency response time by </a:t>
            </a:r>
            <a:r>
              <a:rPr lang="en-US" sz="1700" b="1" dirty="0">
                <a:solidFill>
                  <a:srgbClr val="EEAEF6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70%</a:t>
            </a: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through instant alerts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87972" y="5935147"/>
            <a:ext cx="6289358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Enable continuous medical-grade health tracking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87972" y="6358890"/>
            <a:ext cx="6289358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Achieve </a:t>
            </a:r>
            <a:r>
              <a:rPr lang="en-US" sz="1700" b="1" dirty="0">
                <a:solidFill>
                  <a:srgbClr val="EEAEF6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85% energy independence</a:t>
            </a: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through harvesting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87972" y="6782633"/>
            <a:ext cx="6289358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Ensure intuitive usage for ages 8 to 85+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87972" y="7206377"/>
            <a:ext cx="6289358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Provide robust data privacy and user control</a:t>
            </a:r>
            <a:endParaRPr lang="en-US" sz="1700" dirty="0"/>
          </a:p>
        </p:txBody>
      </p:sp>
      <p:pic>
        <p:nvPicPr>
          <p:cNvPr id="12" name="Picture 4" descr="C:\Users\bharg\Downloads\Gemini_Generated_Image_gaqywngaqywngaqy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01600" y="7814930"/>
            <a:ext cx="1828800" cy="4146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130" y="517922"/>
            <a:ext cx="7665601" cy="588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Who Benefits from Guardian Band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" y="1483043"/>
            <a:ext cx="4280416" cy="42804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9130" y="5951696"/>
            <a:ext cx="2354342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Women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59130" y="6358890"/>
            <a:ext cx="4280416" cy="90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Personal safety protection, emergency SOS alerts, and discreet panic features for everyday security and peace of mind.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933" y="1483043"/>
            <a:ext cx="4280416" cy="42804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74933" y="5951696"/>
            <a:ext cx="2354342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Children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174933" y="6358890"/>
            <a:ext cx="4280416" cy="90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Parental tracking, geofencing alerts, and instant emergency contact for school safety and outdoor activities.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0735" y="1483043"/>
            <a:ext cx="4280416" cy="42804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90735" y="5951696"/>
            <a:ext cx="2354342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Senior Citizens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690735" y="6358890"/>
            <a:ext cx="4280416" cy="90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Fall detection, health monitoring, and automatic emergency alerts for independent living with family support.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59130" y="7474744"/>
            <a:ext cx="13312140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Secondary users include family members, caregivers, healthcare providers for remote monitoring, and institutions such as schools and senior care facilities.</a:t>
            </a:r>
            <a:endParaRPr lang="en-US" sz="1450" dirty="0"/>
          </a:p>
        </p:txBody>
      </p:sp>
      <p:pic>
        <p:nvPicPr>
          <p:cNvPr id="13" name="Picture 4" descr="C:\Users\bharg\Downloads\Gemini_Generated_Image_gaqywngaqywngaqy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801600" y="7814930"/>
            <a:ext cx="1828800" cy="4146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426" y="922139"/>
            <a:ext cx="6382107" cy="65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Advanced Safety Features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38426" y="2319933"/>
            <a:ext cx="6471285" cy="2230041"/>
          </a:xfrm>
          <a:prstGeom prst="roundRect">
            <a:avLst>
              <a:gd name="adj" fmla="val 4920"/>
            </a:avLst>
          </a:prstGeom>
          <a:solidFill>
            <a:srgbClr val="F6EBD4"/>
          </a:solidFill>
          <a:ln/>
        </p:spPr>
      </p:sp>
      <p:sp>
        <p:nvSpPr>
          <p:cNvPr id="4" name="Shape 2"/>
          <p:cNvSpPr/>
          <p:nvPr/>
        </p:nvSpPr>
        <p:spPr>
          <a:xfrm>
            <a:off x="738426" y="2297073"/>
            <a:ext cx="6471285" cy="91440"/>
          </a:xfrm>
          <a:prstGeom prst="roundRect">
            <a:avLst>
              <a:gd name="adj" fmla="val 346133"/>
            </a:avLst>
          </a:prstGeom>
          <a:solidFill>
            <a:srgbClr val="626C3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2003465"/>
            <a:ext cx="632936" cy="632936"/>
          </a:xfrm>
          <a:prstGeom prst="roundRect">
            <a:avLst>
              <a:gd name="adj" fmla="val 144470"/>
            </a:avLst>
          </a:prstGeom>
          <a:solidFill>
            <a:srgbClr val="626C3B"/>
          </a:solidFill>
          <a:ln/>
        </p:spPr>
      </p:sp>
      <p:sp>
        <p:nvSpPr>
          <p:cNvPr id="6" name="Text 4"/>
          <p:cNvSpPr/>
          <p:nvPr/>
        </p:nvSpPr>
        <p:spPr>
          <a:xfrm>
            <a:off x="3847505" y="2161699"/>
            <a:ext cx="25312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72264" y="2847380"/>
            <a:ext cx="3105150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Intelligent Fall Detection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972264" y="3303508"/>
            <a:ext cx="6003608" cy="1012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6-axis motion sensors powered by AI distinguish real falls from normal movements. Auto alert system activates with a 30-second cancel option to prevent false alarms.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420689" y="2319933"/>
            <a:ext cx="6471285" cy="2230041"/>
          </a:xfrm>
          <a:prstGeom prst="roundRect">
            <a:avLst>
              <a:gd name="adj" fmla="val 4920"/>
            </a:avLst>
          </a:prstGeom>
          <a:solidFill>
            <a:srgbClr val="F6EBD4"/>
          </a:solidFill>
          <a:ln/>
        </p:spPr>
      </p:sp>
      <p:sp>
        <p:nvSpPr>
          <p:cNvPr id="10" name="Shape 8"/>
          <p:cNvSpPr/>
          <p:nvPr/>
        </p:nvSpPr>
        <p:spPr>
          <a:xfrm>
            <a:off x="7420689" y="2297073"/>
            <a:ext cx="6471285" cy="91440"/>
          </a:xfrm>
          <a:prstGeom prst="roundRect">
            <a:avLst>
              <a:gd name="adj" fmla="val 346133"/>
            </a:avLst>
          </a:prstGeom>
          <a:solidFill>
            <a:srgbClr val="83792E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9864" y="2003465"/>
            <a:ext cx="632936" cy="632936"/>
          </a:xfrm>
          <a:prstGeom prst="roundRect">
            <a:avLst>
              <a:gd name="adj" fmla="val 144470"/>
            </a:avLst>
          </a:prstGeom>
          <a:solidFill>
            <a:srgbClr val="8379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529768" y="2161699"/>
            <a:ext cx="25312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54528" y="2847380"/>
            <a:ext cx="2937986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SOS Emergency System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7654528" y="3303508"/>
            <a:ext cx="6003608" cy="1012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Dedicated physical SOS button with triple-press and voice activation. Silent alert mode ensures discreet emergency calls in dangerous situations.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38426" y="5077420"/>
            <a:ext cx="6471285" cy="2230041"/>
          </a:xfrm>
          <a:prstGeom prst="roundRect">
            <a:avLst>
              <a:gd name="adj" fmla="val 4920"/>
            </a:avLst>
          </a:prstGeom>
          <a:solidFill>
            <a:srgbClr val="F6EBD4"/>
          </a:solidFill>
          <a:ln/>
        </p:spPr>
      </p:sp>
      <p:sp>
        <p:nvSpPr>
          <p:cNvPr id="16" name="Shape 14"/>
          <p:cNvSpPr/>
          <p:nvPr/>
        </p:nvSpPr>
        <p:spPr>
          <a:xfrm>
            <a:off x="738426" y="5054560"/>
            <a:ext cx="6471285" cy="91440"/>
          </a:xfrm>
          <a:prstGeom prst="roundRect">
            <a:avLst>
              <a:gd name="adj" fmla="val 346133"/>
            </a:avLst>
          </a:prstGeom>
          <a:solidFill>
            <a:srgbClr val="E8AF3B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0" y="4760952"/>
            <a:ext cx="632936" cy="632936"/>
          </a:xfrm>
          <a:prstGeom prst="roundRect">
            <a:avLst>
              <a:gd name="adj" fmla="val 144470"/>
            </a:avLst>
          </a:prstGeom>
          <a:solidFill>
            <a:srgbClr val="E8AF3B"/>
          </a:solidFill>
          <a:ln/>
        </p:spPr>
      </p:sp>
      <p:sp>
        <p:nvSpPr>
          <p:cNvPr id="18" name="Text 16"/>
          <p:cNvSpPr/>
          <p:nvPr/>
        </p:nvSpPr>
        <p:spPr>
          <a:xfrm>
            <a:off x="3847505" y="4919186"/>
            <a:ext cx="25312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72264" y="5604867"/>
            <a:ext cx="3273385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Gesture-Based Panic Alert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972264" y="6060996"/>
            <a:ext cx="6003608" cy="1012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Activate emergency response through simple wrist gestures. Instantly sends alerts to trusted contacts and connects to emergency services automatically.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20689" y="5077420"/>
            <a:ext cx="6471285" cy="2230041"/>
          </a:xfrm>
          <a:prstGeom prst="roundRect">
            <a:avLst>
              <a:gd name="adj" fmla="val 4920"/>
            </a:avLst>
          </a:prstGeom>
          <a:solidFill>
            <a:srgbClr val="F6EBD4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0689" y="5054560"/>
            <a:ext cx="6471285" cy="91440"/>
          </a:xfrm>
          <a:prstGeom prst="roundRect">
            <a:avLst>
              <a:gd name="adj" fmla="val 346133"/>
            </a:avLst>
          </a:prstGeom>
          <a:solidFill>
            <a:srgbClr val="CC914D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39864" y="4760952"/>
            <a:ext cx="632936" cy="632936"/>
          </a:xfrm>
          <a:prstGeom prst="roundRect">
            <a:avLst>
              <a:gd name="adj" fmla="val 144470"/>
            </a:avLst>
          </a:prstGeom>
          <a:solidFill>
            <a:srgbClr val="CC914D"/>
          </a:solidFill>
          <a:ln/>
        </p:spPr>
      </p:sp>
      <p:sp>
        <p:nvSpPr>
          <p:cNvPr id="24" name="Text 22"/>
          <p:cNvSpPr/>
          <p:nvPr/>
        </p:nvSpPr>
        <p:spPr>
          <a:xfrm>
            <a:off x="10529768" y="4919186"/>
            <a:ext cx="25312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4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654528" y="5604867"/>
            <a:ext cx="283190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GPS Location Tracking</a:t>
            </a:r>
            <a:endParaRPr lang="en-US" sz="2050" dirty="0"/>
          </a:p>
        </p:txBody>
      </p:sp>
      <p:sp>
        <p:nvSpPr>
          <p:cNvPr id="26" name="Text 24"/>
          <p:cNvSpPr/>
          <p:nvPr/>
        </p:nvSpPr>
        <p:spPr>
          <a:xfrm>
            <a:off x="7654528" y="6060996"/>
            <a:ext cx="6003608" cy="1012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Dual-band GPS with global satellite support and indoor tracking using WiFi and Bluetooth. Live location sharing during emergencies with geofencing capabilities.</a:t>
            </a:r>
            <a:endParaRPr lang="en-US" sz="1650" dirty="0"/>
          </a:p>
        </p:txBody>
      </p:sp>
      <p:pic>
        <p:nvPicPr>
          <p:cNvPr id="27" name="Picture 4" descr="C:\Users\bharg\Downloads\Gemini_Generated_Image_gaqywngaqywngaqy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01600" y="7814930"/>
            <a:ext cx="1828800" cy="4146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98268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Context-Aware Emergency Response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96703"/>
            <a:ext cx="4885015" cy="48850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828" y="2168366"/>
            <a:ext cx="409563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Intelligent Photo Capture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39828" y="2820472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 discreet 5MP wide-angle camera automatically captures contextual photos during SOS activation, providing crucial visual information to emergency responders and trusted contacts.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39828" y="411325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Auto photo capture during emergency alerts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39828" y="455545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End-to-end encrypted image sharing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39828" y="499764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LED privacy indicator for transparency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39828" y="543984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Manual disable option for complete control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39828" y="6006822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Location history tracking and geofencing ensure caregivers can monitor movement patterns and receive alerts when users enter or leave designated safe zones.</a:t>
            </a:r>
            <a:endParaRPr lang="en-US" sz="1750" dirty="0"/>
          </a:p>
        </p:txBody>
      </p:sp>
      <p:pic>
        <p:nvPicPr>
          <p:cNvPr id="11" name="Picture 4" descr="C:\Users\bharg\Downloads\Gemini_Generated_Image_gaqywngaqywngaqy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01600" y="7814930"/>
            <a:ext cx="1828800" cy="4146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4746"/>
            <a:ext cx="93177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Comprehensive Health Monitoring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2855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Blood Pressure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75942"/>
            <a:ext cx="389870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Continuous BP tracking using optical sensors with calibration-free, medical-grade accuracy and alerts for abnormal trends.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852874" y="3586996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19871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Heart Monitoring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2477572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Real-time heart rate and heart rate variability analysis for cardiovascular health insights.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639169" y="3006566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Blood Oxygen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051256" y="4396859"/>
            <a:ext cx="378535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SpO2 monitoring tracks oxygen saturation levels for respiratory health assessment.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743117" y="4526161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37790" y="58257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Body Temperature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937790" y="6316147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Continuous body temperature sensing helps detect fever and health anomalies early.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639169" y="6045756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857256" y="5345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Sleep &amp; Stress</a:t>
            </a:r>
            <a:endParaRPr lang="en-US" sz="2200" dirty="0"/>
          </a:p>
        </p:txBody>
      </p:sp>
      <p:sp>
        <p:nvSpPr>
          <p:cNvPr id="20" name="Text 10"/>
          <p:cNvSpPr/>
          <p:nvPr/>
        </p:nvSpPr>
        <p:spPr>
          <a:xfrm>
            <a:off x="793790" y="5836325"/>
            <a:ext cx="38987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Detailed sleep quality analysis and stress level monitoring for holistic wellness tracking.</a:t>
            </a:r>
            <a:endParaRPr lang="en-US" sz="17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5852874" y="5465326"/>
            <a:ext cx="339328" cy="339328"/>
          </a:xfrm>
          <a:prstGeom prst="rect">
            <a:avLst/>
          </a:prstGeom>
        </p:spPr>
      </p:pic>
      <p:pic>
        <p:nvPicPr>
          <p:cNvPr id="23" name="Picture 4" descr="C:\Users\bharg\Downloads\Gemini_Generated_Image_gaqywngaqywngaqy.png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12801600" y="7814930"/>
            <a:ext cx="1828800" cy="4146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3416" y="971550"/>
            <a:ext cx="6375440" cy="59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Revolutionary Power System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3416" y="1848326"/>
            <a:ext cx="7817168" cy="3109317"/>
          </a:xfrm>
          <a:prstGeom prst="roundRect">
            <a:avLst>
              <a:gd name="adj" fmla="val 9146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1036" y="1855946"/>
            <a:ext cx="3900964" cy="1698665"/>
          </a:xfrm>
          <a:prstGeom prst="roundRect">
            <a:avLst>
              <a:gd name="adj" fmla="val 16741"/>
            </a:avLst>
          </a:prstGeom>
          <a:solidFill>
            <a:srgbClr val="626C3B"/>
          </a:solidFill>
          <a:ln/>
        </p:spPr>
      </p:sp>
      <p:sp>
        <p:nvSpPr>
          <p:cNvPr id="6" name="Text 3"/>
          <p:cNvSpPr/>
          <p:nvPr/>
        </p:nvSpPr>
        <p:spPr>
          <a:xfrm>
            <a:off x="860584" y="2045494"/>
            <a:ext cx="2433042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Body Heat Harvesting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0584" y="2455307"/>
            <a:ext cx="3521869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Thermoelectric generators convert your body's natural warmth into electrical energy for continuous operation.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572000" y="1855946"/>
            <a:ext cx="3900964" cy="1698665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1855946"/>
            <a:ext cx="22860" cy="1698665"/>
          </a:xfrm>
          <a:prstGeom prst="roundRect">
            <a:avLst>
              <a:gd name="adj" fmla="val 1243944"/>
            </a:avLst>
          </a:prstGeom>
          <a:solidFill>
            <a:srgbClr val="9C9247"/>
          </a:solidFill>
          <a:ln/>
        </p:spPr>
      </p:sp>
      <p:sp>
        <p:nvSpPr>
          <p:cNvPr id="10" name="Text 7"/>
          <p:cNvSpPr/>
          <p:nvPr/>
        </p:nvSpPr>
        <p:spPr>
          <a:xfrm>
            <a:off x="4761548" y="2045494"/>
            <a:ext cx="2607588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Kinetic Energy Capture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761548" y="2455307"/>
            <a:ext cx="3521869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Harvests energy from wrist pulse and natural arm movements throughout your daily activities.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71036" y="3554611"/>
            <a:ext cx="7801927" cy="1395413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13" name="Shape 10"/>
          <p:cNvSpPr/>
          <p:nvPr/>
        </p:nvSpPr>
        <p:spPr>
          <a:xfrm>
            <a:off x="671036" y="3554611"/>
            <a:ext cx="7801927" cy="22860"/>
          </a:xfrm>
          <a:prstGeom prst="roundRect">
            <a:avLst>
              <a:gd name="adj" fmla="val 1243944"/>
            </a:avLst>
          </a:prstGeom>
          <a:solidFill>
            <a:srgbClr val="CE9521"/>
          </a:solidFill>
          <a:ln/>
        </p:spPr>
      </p:sp>
      <p:sp>
        <p:nvSpPr>
          <p:cNvPr id="14" name="Text 11"/>
          <p:cNvSpPr/>
          <p:nvPr/>
        </p:nvSpPr>
        <p:spPr>
          <a:xfrm>
            <a:off x="860584" y="3744158"/>
            <a:ext cx="2369701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Solar Charging Layer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60584" y="4153972"/>
            <a:ext cx="7422833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Transparent solar cells provide supplementary power from ambient and direct sunlight exposure.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3416" y="5360432"/>
            <a:ext cx="2967871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Smart Power Management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663416" y="5846088"/>
            <a:ext cx="3677364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350mAh lithium-polymer battery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63416" y="6215658"/>
            <a:ext cx="3677364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Ultra-low power processor optimisation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63416" y="6888480"/>
            <a:ext cx="3677364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Intelligent power allocation system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810839" y="5360432"/>
            <a:ext cx="2843570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EAEF6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Up to 7 Days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810839" y="5905381"/>
            <a:ext cx="3677364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Battery life with typical usage patterns and energy harvesting enabled.</a:t>
            </a:r>
            <a:endParaRPr lang="en-US" sz="1450" dirty="0"/>
          </a:p>
        </p:txBody>
      </p:sp>
      <p:pic>
        <p:nvPicPr>
          <p:cNvPr id="22" name="Picture 4" descr="C:\Users\bharg\Downloads\Gemini_Generated_Image_gaqywngaqywngaqy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01600" y="7814930"/>
            <a:ext cx="1828800" cy="4146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613" y="561499"/>
            <a:ext cx="8597622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Seamless Connectivity Architecture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13" y="1608058"/>
            <a:ext cx="6600587" cy="8167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8805" y="2629019"/>
            <a:ext cx="2552462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Cellular Network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8805" y="3070622"/>
            <a:ext cx="6192203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4G LTE Cat-M1 and NB-IoT support ensures reliable emergency communication anywhere.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08058"/>
            <a:ext cx="6600587" cy="8167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9392" y="2629019"/>
            <a:ext cx="2552462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Bluetooth 5.2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519392" y="3070622"/>
            <a:ext cx="6192203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Seamless pairing with mobile devices for data sync and enhanced functionality.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13" y="3928229"/>
            <a:ext cx="6600587" cy="8167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8805" y="4949190"/>
            <a:ext cx="2552462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WiFi Connectivity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918805" y="5390793"/>
            <a:ext cx="6192203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Fast data synchronisation and indoor location tracking capabilities.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928229"/>
            <a:ext cx="6600587" cy="8167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19392" y="4949190"/>
            <a:ext cx="2552462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NFC Integration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7519392" y="5390793"/>
            <a:ext cx="6192203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Emergency medical information sharing with first responders instantly.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714613" y="6478072"/>
            <a:ext cx="13201174" cy="1194316"/>
          </a:xfrm>
          <a:prstGeom prst="roundRect">
            <a:avLst>
              <a:gd name="adj" fmla="val 25647"/>
            </a:avLst>
          </a:prstGeom>
          <a:solidFill>
            <a:srgbClr val="DFE4CE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805" y="6783110"/>
            <a:ext cx="255151" cy="2041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78148" y="6733223"/>
            <a:ext cx="1233344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Software Foundation:</a:t>
            </a:r>
            <a:r>
              <a:rPr lang="en-US" sz="1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Built on FreeRTOS for stable real-time performance with an integrated AI engine for safety and health analysis. Complete ecosystem includes mobile apps for users and families, plus web dashboards for caregivers and institutions.</a:t>
            </a:r>
            <a:endParaRPr lang="en-US" sz="1600" dirty="0"/>
          </a:p>
        </p:txBody>
      </p:sp>
      <p:pic>
        <p:nvPicPr>
          <p:cNvPr id="18" name="Picture 4" descr="C:\Users\bharg\Downloads\Gemini_Generated_Image_gaqywngaqywngaqy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2801600" y="7814930"/>
            <a:ext cx="1828800" cy="4146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049" y="951548"/>
            <a:ext cx="12985313" cy="688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Guardian Band: Protection Powered by Innovation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1049" y="2190631"/>
            <a:ext cx="3065621" cy="726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70%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27021" y="3192780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Faster Response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71049" y="3669149"/>
            <a:ext cx="306562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Emergency response time reduction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1943" y="2190631"/>
            <a:ext cx="3065621" cy="726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85%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267914" y="3192780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Energy Independent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4111943" y="3669149"/>
            <a:ext cx="306562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Power from harvesting technology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52836" y="2190631"/>
            <a:ext cx="3065621" cy="726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7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7608808" y="3192780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Days Battery Life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452836" y="3669149"/>
            <a:ext cx="306562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Extended operation time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93730" y="2190631"/>
            <a:ext cx="3065621" cy="726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24/7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10949702" y="3192780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Health Monitoring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10793730" y="3669149"/>
            <a:ext cx="306562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Continuous vital signs tracking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1049" y="4731850"/>
            <a:ext cx="13088303" cy="35123"/>
          </a:xfrm>
          <a:prstGeom prst="rect">
            <a:avLst/>
          </a:prstGeom>
          <a:solidFill>
            <a:srgbClr val="403011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71049" y="5014674"/>
            <a:ext cx="13088303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Guardian Band represents the future of personal safety and health monitoring—combining cutting-edge technology with intuitive design to protect and empower vulnerable populations. With medical-grade health tracking, intelligent emergency response, and sustainable energy harvesting, Guardian Band delivers comprehensive protection in a discreet, user-friendly wearable.</a:t>
            </a:r>
            <a:endParaRPr lang="en-US" sz="1700" dirty="0"/>
          </a:p>
        </p:txBody>
      </p:sp>
      <p:pic>
        <p:nvPicPr>
          <p:cNvPr id="17" name="Image 0" descr="preencoded.png">
            <a:hlinkClick r:id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49" y="6672143"/>
            <a:ext cx="1646158" cy="605790"/>
          </a:xfrm>
          <a:prstGeom prst="rect">
            <a:avLst/>
          </a:prstGeom>
        </p:spPr>
      </p:pic>
      <p:pic>
        <p:nvPicPr>
          <p:cNvPr id="18" name="Image 1" descr="preencoded.png">
            <a:hlinkClick r:id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340" y="6672143"/>
            <a:ext cx="1947386" cy="605790"/>
          </a:xfrm>
          <a:prstGeom prst="rect">
            <a:avLst/>
          </a:prstGeom>
        </p:spPr>
      </p:pic>
      <p:pic>
        <p:nvPicPr>
          <p:cNvPr id="19" name="Picture 4" descr="C:\Users\bharg\Downloads\Gemini_Generated_Image_gaqywngaqywngaqy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801600" y="7814930"/>
            <a:ext cx="1828800" cy="4146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802</Words>
  <Application>Microsoft Office PowerPoint</Application>
  <PresentationFormat>Custom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Brygada 1918 Semi Bold</vt:lpstr>
      <vt:lpstr>Calibri</vt:lpstr>
      <vt:lpstr>Brygada 1918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Bhargavi Veera</dc:creator>
  <cp:lastModifiedBy>Bhargavi Veera</cp:lastModifiedBy>
  <cp:revision>3</cp:revision>
  <dcterms:created xsi:type="dcterms:W3CDTF">2025-12-13T06:30:05Z</dcterms:created>
  <dcterms:modified xsi:type="dcterms:W3CDTF">2025-12-13T07:32:05Z</dcterms:modified>
</cp:coreProperties>
</file>